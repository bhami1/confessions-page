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IN"/>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F5A787BD-C870-49D3-87DA-4FCD3C31C1C4}" type="datetimeFigureOut">
              <a:rPr lang="en-IN" smtClean="0"/>
              <a:t>12-09-2026</a:t>
            </a:fld>
            <a:endParaRPr lang="en-IN"/>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10499268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840254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IN"/>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F5A787BD-C870-49D3-87DA-4FCD3C31C1C4}" type="datetimeFigureOut">
              <a:rPr lang="en-IN" smtClean="0"/>
              <a:t>12-09-2026</a:t>
            </a:fld>
            <a:endParaRPr lang="en-IN"/>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3310831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IN"/>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29454415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60181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374971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933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932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809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IN"/>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52801111-9C12-449E-B287-A71AC5A60807}" type="slidenum">
              <a:rPr lang="en-IN" smtClean="0"/>
              <a:t>‹#›</a:t>
            </a:fld>
            <a:endParaRPr lang="en-IN"/>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118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F5A787BD-C870-49D3-87DA-4FCD3C31C1C4}" type="datetimeFigureOut">
              <a:rPr lang="en-IN" smtClean="0"/>
              <a:t>12-09-2026</a:t>
            </a:fld>
            <a:endParaRPr lang="en-IN"/>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IN"/>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4108391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F5A787BD-C870-49D3-87DA-4FCD3C31C1C4}" type="datetimeFigureOut">
              <a:rPr lang="en-IN" smtClean="0"/>
              <a:t>12-09-2026</a:t>
            </a:fld>
            <a:endParaRPr lang="en-IN"/>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3990114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F5A787BD-C870-49D3-87DA-4FCD3C31C1C4}" type="datetimeFigureOut">
              <a:rPr lang="en-IN" smtClean="0"/>
              <a:t>12-09-2026</a:t>
            </a:fld>
            <a:endParaRPr lang="en-IN"/>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IN"/>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2896903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F5A787BD-C870-49D3-87DA-4FCD3C31C1C4}" type="datetimeFigureOut">
              <a:rPr lang="en-IN" smtClean="0"/>
              <a:t>12-09-2026</a:t>
            </a:fld>
            <a:endParaRPr lang="en-IN"/>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174683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F5A787BD-C870-49D3-87DA-4FCD3C31C1C4}" type="datetimeFigureOut">
              <a:rPr lang="en-IN" smtClean="0"/>
              <a:t>12-09-2026</a:t>
            </a:fld>
            <a:endParaRPr lang="en-IN"/>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IN"/>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11274927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958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015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IN"/>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F5A787BD-C870-49D3-87DA-4FCD3C31C1C4}" type="datetimeFigureOut">
              <a:rPr lang="en-IN" smtClean="0"/>
              <a:t>12-09-2026</a:t>
            </a:fld>
            <a:endParaRPr lang="en-IN"/>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52801111-9C12-449E-B287-A71AC5A60807}"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14045604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04139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4245101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20809895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2938826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34645442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35723008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18700350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23450492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2801111-9C12-449E-B287-A71AC5A60807}" type="slidenum">
              <a:rPr lang="en-IN" smtClean="0"/>
              <a:t>‹#›</a:t>
            </a:fld>
            <a:endParaRPr lang="en-IN"/>
          </a:p>
        </p:txBody>
      </p:sp>
    </p:spTree>
    <p:extLst>
      <p:ext uri="{BB962C8B-B14F-4D97-AF65-F5344CB8AC3E}">
        <p14:creationId xmlns:p14="http://schemas.microsoft.com/office/powerpoint/2010/main" val="12556669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C504D-F3DE-7D6D-6AAB-DFF88D99F8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5B41F6-E9D9-9BDB-0CAB-1B1099B0A8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5D03693-8FD4-3BB6-C166-FE78CDFFC841}"/>
              </a:ext>
            </a:extLst>
          </p:cNvPr>
          <p:cNvSpPr>
            <a:spLocks noGrp="1"/>
          </p:cNvSpPr>
          <p:nvPr>
            <p:ph type="dt" sz="half" idx="10"/>
          </p:nvPr>
        </p:nvSpPr>
        <p:spPr/>
        <p:txBody>
          <a:bodyPr/>
          <a:lstStyle/>
          <a:p>
            <a:fld id="{F5A787BD-C870-49D3-87DA-4FCD3C31C1C4}" type="datetimeFigureOut">
              <a:rPr lang="en-IN" smtClean="0"/>
              <a:t>12-09-2026</a:t>
            </a:fld>
            <a:endParaRPr lang="en-IN"/>
          </a:p>
        </p:txBody>
      </p:sp>
      <p:sp>
        <p:nvSpPr>
          <p:cNvPr id="5" name="Footer Placeholder 4">
            <a:extLst>
              <a:ext uri="{FF2B5EF4-FFF2-40B4-BE49-F238E27FC236}">
                <a16:creationId xmlns:a16="http://schemas.microsoft.com/office/drawing/2014/main" id="{C526EE18-652C-C486-399B-DB98C92C72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D065EF-2AF8-4553-B548-96E02B6F3E7F}"/>
              </a:ext>
            </a:extLst>
          </p:cNvPr>
          <p:cNvSpPr>
            <a:spLocks noGrp="1"/>
          </p:cNvSpPr>
          <p:nvPr>
            <p:ph type="sldNum" sz="quarter" idx="12"/>
          </p:nvPr>
        </p:nvSpPr>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13889341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ED2CD-83A1-9B33-86DD-2930254BB7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65303E-8B46-1805-26F8-9F554DA18F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11CDF7-C7B9-8D4E-68B4-F3D6F0A430D8}"/>
              </a:ext>
            </a:extLst>
          </p:cNvPr>
          <p:cNvSpPr>
            <a:spLocks noGrp="1"/>
          </p:cNvSpPr>
          <p:nvPr>
            <p:ph type="dt" sz="half" idx="10"/>
          </p:nvPr>
        </p:nvSpPr>
        <p:spPr/>
        <p:txBody>
          <a:bodyPr/>
          <a:lstStyle/>
          <a:p>
            <a:fld id="{F5A787BD-C870-49D3-87DA-4FCD3C31C1C4}" type="datetimeFigureOut">
              <a:rPr lang="en-IN" smtClean="0"/>
              <a:t>12-09-2026</a:t>
            </a:fld>
            <a:endParaRPr lang="en-IN"/>
          </a:p>
        </p:txBody>
      </p:sp>
      <p:sp>
        <p:nvSpPr>
          <p:cNvPr id="5" name="Footer Placeholder 4">
            <a:extLst>
              <a:ext uri="{FF2B5EF4-FFF2-40B4-BE49-F238E27FC236}">
                <a16:creationId xmlns:a16="http://schemas.microsoft.com/office/drawing/2014/main" id="{4982FCFF-3767-100E-3186-B6CE882074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521679-C506-04AB-A0F0-C479EA0E809E}"/>
              </a:ext>
            </a:extLst>
          </p:cNvPr>
          <p:cNvSpPr>
            <a:spLocks noGrp="1"/>
          </p:cNvSpPr>
          <p:nvPr>
            <p:ph type="sldNum" sz="quarter" idx="12"/>
          </p:nvPr>
        </p:nvSpPr>
        <p:spPr/>
        <p:txBody>
          <a:bodyPr/>
          <a:lstStyle/>
          <a:p>
            <a:fld id="{52801111-9C12-449E-B287-A71AC5A60807}" type="slidenum">
              <a:rPr lang="en-IN" smtClean="0"/>
              <a:t>‹#›</a:t>
            </a:fld>
            <a:endParaRPr lang="en-IN"/>
          </a:p>
        </p:txBody>
      </p:sp>
    </p:spTree>
    <p:extLst>
      <p:ext uri="{BB962C8B-B14F-4D97-AF65-F5344CB8AC3E}">
        <p14:creationId xmlns:p14="http://schemas.microsoft.com/office/powerpoint/2010/main" val="3539241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IN"/>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F5A787BD-C870-49D3-87DA-4FCD3C31C1C4}" type="datetimeFigureOut">
              <a:rPr lang="en-IN" smtClean="0"/>
              <a:t>12-09-2026</a:t>
            </a:fld>
            <a:endParaRPr lang="en-IN"/>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52801111-9C12-449E-B287-A71AC5A60807}" type="slidenum">
              <a:rPr lang="en-IN" smtClean="0"/>
              <a:t>‹#›</a:t>
            </a:fld>
            <a:endParaRPr lang="en-IN"/>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7768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0677E-E7A9-1658-6049-FDD7C9EB46AD}"/>
              </a:ext>
            </a:extLst>
          </p:cNvPr>
          <p:cNvSpPr>
            <a:spLocks noGrp="1"/>
          </p:cNvSpPr>
          <p:nvPr>
            <p:ph type="ctrTitle"/>
          </p:nvPr>
        </p:nvSpPr>
        <p:spPr/>
        <p:txBody>
          <a:bodyPr/>
          <a:lstStyle/>
          <a:p>
            <a:r>
              <a:rPr lang="en-IN" dirty="0"/>
              <a:t>CONFESSIONS PAGE </a:t>
            </a:r>
          </a:p>
        </p:txBody>
      </p:sp>
      <p:sp>
        <p:nvSpPr>
          <p:cNvPr id="3" name="Subtitle 2">
            <a:extLst>
              <a:ext uri="{FF2B5EF4-FFF2-40B4-BE49-F238E27FC236}">
                <a16:creationId xmlns:a16="http://schemas.microsoft.com/office/drawing/2014/main" id="{7E4C6FCF-85F3-C72A-EAFD-0BE6966C3783}"/>
              </a:ext>
            </a:extLst>
          </p:cNvPr>
          <p:cNvSpPr>
            <a:spLocks noGrp="1"/>
          </p:cNvSpPr>
          <p:nvPr>
            <p:ph type="subTitle" idx="1"/>
          </p:nvPr>
        </p:nvSpPr>
        <p:spPr>
          <a:xfrm>
            <a:off x="1441704" y="4415854"/>
            <a:ext cx="9144000" cy="1655762"/>
          </a:xfrm>
        </p:spPr>
        <p:txBody>
          <a:bodyPr>
            <a:normAutofit fontScale="62500" lnSpcReduction="20000"/>
          </a:bodyPr>
          <a:lstStyle/>
          <a:p>
            <a:r>
              <a:rPr lang="en-IN" dirty="0"/>
              <a:t>Project done by </a:t>
            </a:r>
          </a:p>
          <a:p>
            <a:r>
              <a:rPr lang="en-IN" dirty="0"/>
              <a:t>AMAAN SHAH </a:t>
            </a:r>
          </a:p>
          <a:p>
            <a:r>
              <a:rPr lang="en-IN" dirty="0"/>
              <a:t>AKSHAY BABU</a:t>
            </a:r>
          </a:p>
          <a:p>
            <a:r>
              <a:rPr lang="en-IN" dirty="0"/>
              <a:t>ARUN JACOB </a:t>
            </a:r>
          </a:p>
          <a:p>
            <a:r>
              <a:rPr lang="en-IN" dirty="0"/>
              <a:t>BHAMINY KRISHNAN G</a:t>
            </a:r>
          </a:p>
        </p:txBody>
      </p:sp>
    </p:spTree>
    <p:extLst>
      <p:ext uri="{BB962C8B-B14F-4D97-AF65-F5344CB8AC3E}">
        <p14:creationId xmlns:p14="http://schemas.microsoft.com/office/powerpoint/2010/main" val="3104132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D202C2E-8B36-C438-B6CA-2F5C8DB7CFF0}"/>
              </a:ext>
            </a:extLst>
          </p:cNvPr>
          <p:cNvSpPr txBox="1"/>
          <p:nvPr/>
        </p:nvSpPr>
        <p:spPr>
          <a:xfrm>
            <a:off x="1042416" y="1280160"/>
            <a:ext cx="3749040" cy="369332"/>
          </a:xfrm>
          <a:prstGeom prst="rect">
            <a:avLst/>
          </a:prstGeom>
          <a:noFill/>
        </p:spPr>
        <p:txBody>
          <a:bodyPr wrap="square" rtlCol="0">
            <a:spAutoFit/>
          </a:bodyPr>
          <a:lstStyle/>
          <a:p>
            <a:r>
              <a:rPr lang="en-IN" dirty="0"/>
              <a:t>FRONTEND </a:t>
            </a:r>
          </a:p>
        </p:txBody>
      </p:sp>
      <p:sp>
        <p:nvSpPr>
          <p:cNvPr id="5" name="TextBox 4">
            <a:extLst>
              <a:ext uri="{FF2B5EF4-FFF2-40B4-BE49-F238E27FC236}">
                <a16:creationId xmlns:a16="http://schemas.microsoft.com/office/drawing/2014/main" id="{A1374561-6448-D05A-B66B-242CFDA2B6B7}"/>
              </a:ext>
            </a:extLst>
          </p:cNvPr>
          <p:cNvSpPr txBox="1"/>
          <p:nvPr/>
        </p:nvSpPr>
        <p:spPr>
          <a:xfrm>
            <a:off x="1042416" y="2688336"/>
            <a:ext cx="3749040" cy="369332"/>
          </a:xfrm>
          <a:prstGeom prst="rect">
            <a:avLst/>
          </a:prstGeom>
          <a:noFill/>
        </p:spPr>
        <p:txBody>
          <a:bodyPr wrap="square" rtlCol="0">
            <a:spAutoFit/>
          </a:bodyPr>
          <a:lstStyle/>
          <a:p>
            <a:r>
              <a:rPr lang="en-IN" dirty="0"/>
              <a:t>BACKEND </a:t>
            </a:r>
          </a:p>
        </p:txBody>
      </p:sp>
      <p:cxnSp>
        <p:nvCxnSpPr>
          <p:cNvPr id="7" name="Straight Arrow Connector 6">
            <a:extLst>
              <a:ext uri="{FF2B5EF4-FFF2-40B4-BE49-F238E27FC236}">
                <a16:creationId xmlns:a16="http://schemas.microsoft.com/office/drawing/2014/main" id="{2F194392-7F16-E218-2716-88CD708BD166}"/>
              </a:ext>
            </a:extLst>
          </p:cNvPr>
          <p:cNvCxnSpPr/>
          <p:nvPr/>
        </p:nvCxnSpPr>
        <p:spPr>
          <a:xfrm>
            <a:off x="2592324" y="1464826"/>
            <a:ext cx="13350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E52EC6F-5C94-9607-87A6-FA997856D9FE}"/>
              </a:ext>
            </a:extLst>
          </p:cNvPr>
          <p:cNvCxnSpPr>
            <a:cxnSpLocks/>
          </p:cNvCxnSpPr>
          <p:nvPr/>
        </p:nvCxnSpPr>
        <p:spPr>
          <a:xfrm>
            <a:off x="2633472" y="2856500"/>
            <a:ext cx="13807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B59FBE6-E413-CB15-C92F-96366FB87DF9}"/>
              </a:ext>
            </a:extLst>
          </p:cNvPr>
          <p:cNvSpPr txBox="1"/>
          <p:nvPr/>
        </p:nvSpPr>
        <p:spPr>
          <a:xfrm>
            <a:off x="3927348" y="1280160"/>
            <a:ext cx="2683764" cy="369332"/>
          </a:xfrm>
          <a:prstGeom prst="rect">
            <a:avLst/>
          </a:prstGeom>
          <a:noFill/>
        </p:spPr>
        <p:txBody>
          <a:bodyPr wrap="square" rtlCol="0">
            <a:spAutoFit/>
          </a:bodyPr>
          <a:lstStyle/>
          <a:p>
            <a:r>
              <a:rPr lang="en-IN" dirty="0"/>
              <a:t>STREAMLIT UI </a:t>
            </a:r>
          </a:p>
        </p:txBody>
      </p:sp>
      <p:sp>
        <p:nvSpPr>
          <p:cNvPr id="11" name="TextBox 10">
            <a:extLst>
              <a:ext uri="{FF2B5EF4-FFF2-40B4-BE49-F238E27FC236}">
                <a16:creationId xmlns:a16="http://schemas.microsoft.com/office/drawing/2014/main" id="{80589C74-277A-76A8-0CFC-F28FDD6A57D6}"/>
              </a:ext>
            </a:extLst>
          </p:cNvPr>
          <p:cNvSpPr txBox="1"/>
          <p:nvPr/>
        </p:nvSpPr>
        <p:spPr>
          <a:xfrm>
            <a:off x="4014216" y="2671834"/>
            <a:ext cx="2683764" cy="369332"/>
          </a:xfrm>
          <a:prstGeom prst="rect">
            <a:avLst/>
          </a:prstGeom>
          <a:noFill/>
        </p:spPr>
        <p:txBody>
          <a:bodyPr wrap="square" rtlCol="0">
            <a:spAutoFit/>
          </a:bodyPr>
          <a:lstStyle/>
          <a:p>
            <a:r>
              <a:rPr lang="en-IN" dirty="0"/>
              <a:t>PYTHON  </a:t>
            </a:r>
          </a:p>
        </p:txBody>
      </p:sp>
      <p:cxnSp>
        <p:nvCxnSpPr>
          <p:cNvPr id="13" name="Connector: Elbow 12">
            <a:extLst>
              <a:ext uri="{FF2B5EF4-FFF2-40B4-BE49-F238E27FC236}">
                <a16:creationId xmlns:a16="http://schemas.microsoft.com/office/drawing/2014/main" id="{3DBDDDAD-39F8-1339-6897-F293FE19BCB4}"/>
              </a:ext>
            </a:extLst>
          </p:cNvPr>
          <p:cNvCxnSpPr/>
          <p:nvPr/>
        </p:nvCxnSpPr>
        <p:spPr>
          <a:xfrm>
            <a:off x="5696712" y="1464826"/>
            <a:ext cx="658368" cy="6291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A60D96-AAFC-CE7C-244C-8E49EE1EF8E0}"/>
              </a:ext>
            </a:extLst>
          </p:cNvPr>
          <p:cNvCxnSpPr>
            <a:cxnSpLocks/>
          </p:cNvCxnSpPr>
          <p:nvPr/>
        </p:nvCxnSpPr>
        <p:spPr>
          <a:xfrm>
            <a:off x="6025896" y="2093976"/>
            <a:ext cx="0" cy="7790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919A9A-4172-F3BC-086B-E743A0CDBA67}"/>
              </a:ext>
            </a:extLst>
          </p:cNvPr>
          <p:cNvCxnSpPr/>
          <p:nvPr/>
        </p:nvCxnSpPr>
        <p:spPr>
          <a:xfrm flipH="1">
            <a:off x="5696712" y="2873002"/>
            <a:ext cx="329184"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169C072-D9AF-AD23-1CF7-C722651B5B25}"/>
              </a:ext>
            </a:extLst>
          </p:cNvPr>
          <p:cNvSpPr txBox="1"/>
          <p:nvPr/>
        </p:nvSpPr>
        <p:spPr>
          <a:xfrm>
            <a:off x="6419088" y="1788545"/>
            <a:ext cx="1463038" cy="646331"/>
          </a:xfrm>
          <a:prstGeom prst="rect">
            <a:avLst/>
          </a:prstGeom>
          <a:noFill/>
        </p:spPr>
        <p:txBody>
          <a:bodyPr wrap="square" rtlCol="0">
            <a:spAutoFit/>
          </a:bodyPr>
          <a:lstStyle/>
          <a:p>
            <a:r>
              <a:rPr lang="en-IN" dirty="0"/>
              <a:t>DATABASE LAYER </a:t>
            </a:r>
          </a:p>
        </p:txBody>
      </p:sp>
      <p:cxnSp>
        <p:nvCxnSpPr>
          <p:cNvPr id="23" name="Connector: Elbow 22">
            <a:extLst>
              <a:ext uri="{FF2B5EF4-FFF2-40B4-BE49-F238E27FC236}">
                <a16:creationId xmlns:a16="http://schemas.microsoft.com/office/drawing/2014/main" id="{CC310512-733D-DA75-8DAE-B28B5143AE72}"/>
              </a:ext>
            </a:extLst>
          </p:cNvPr>
          <p:cNvCxnSpPr>
            <a:stCxn id="21" idx="3"/>
          </p:cNvCxnSpPr>
          <p:nvPr/>
        </p:nvCxnSpPr>
        <p:spPr>
          <a:xfrm>
            <a:off x="7882126" y="2111711"/>
            <a:ext cx="649226" cy="57662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8E2AF2B0-3450-9E46-9D3C-024E4677A34E}"/>
              </a:ext>
            </a:extLst>
          </p:cNvPr>
          <p:cNvCxnSpPr>
            <a:stCxn id="21" idx="3"/>
          </p:cNvCxnSpPr>
          <p:nvPr/>
        </p:nvCxnSpPr>
        <p:spPr>
          <a:xfrm flipV="1">
            <a:off x="7882126" y="1551587"/>
            <a:ext cx="640082" cy="560124"/>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C5E26BF-03CF-5DDF-6FF5-9128FF362301}"/>
              </a:ext>
            </a:extLst>
          </p:cNvPr>
          <p:cNvSpPr txBox="1"/>
          <p:nvPr/>
        </p:nvSpPr>
        <p:spPr>
          <a:xfrm>
            <a:off x="8531352" y="1366921"/>
            <a:ext cx="1179576" cy="369332"/>
          </a:xfrm>
          <a:prstGeom prst="rect">
            <a:avLst/>
          </a:prstGeom>
          <a:noFill/>
        </p:spPr>
        <p:txBody>
          <a:bodyPr wrap="square" rtlCol="0">
            <a:spAutoFit/>
          </a:bodyPr>
          <a:lstStyle/>
          <a:p>
            <a:r>
              <a:rPr lang="en-IN" dirty="0"/>
              <a:t>USERS </a:t>
            </a:r>
          </a:p>
        </p:txBody>
      </p:sp>
      <p:sp>
        <p:nvSpPr>
          <p:cNvPr id="28" name="TextBox 27">
            <a:extLst>
              <a:ext uri="{FF2B5EF4-FFF2-40B4-BE49-F238E27FC236}">
                <a16:creationId xmlns:a16="http://schemas.microsoft.com/office/drawing/2014/main" id="{93E8CF7E-097D-1117-974B-637ED4F9ADEF}"/>
              </a:ext>
            </a:extLst>
          </p:cNvPr>
          <p:cNvSpPr txBox="1"/>
          <p:nvPr/>
        </p:nvSpPr>
        <p:spPr>
          <a:xfrm>
            <a:off x="8490204" y="2470666"/>
            <a:ext cx="2089404" cy="369332"/>
          </a:xfrm>
          <a:prstGeom prst="rect">
            <a:avLst/>
          </a:prstGeom>
          <a:noFill/>
        </p:spPr>
        <p:txBody>
          <a:bodyPr wrap="square" rtlCol="0">
            <a:spAutoFit/>
          </a:bodyPr>
          <a:lstStyle/>
          <a:p>
            <a:r>
              <a:rPr lang="en-IN" dirty="0"/>
              <a:t>CONFESSIONS </a:t>
            </a:r>
          </a:p>
        </p:txBody>
      </p:sp>
      <p:sp>
        <p:nvSpPr>
          <p:cNvPr id="29" name="TextBox 28">
            <a:extLst>
              <a:ext uri="{FF2B5EF4-FFF2-40B4-BE49-F238E27FC236}">
                <a16:creationId xmlns:a16="http://schemas.microsoft.com/office/drawing/2014/main" id="{18741643-F652-97DA-2A9E-FA91BFB9D6DE}"/>
              </a:ext>
            </a:extLst>
          </p:cNvPr>
          <p:cNvSpPr txBox="1"/>
          <p:nvPr/>
        </p:nvSpPr>
        <p:spPr>
          <a:xfrm>
            <a:off x="530351" y="265231"/>
            <a:ext cx="6620256" cy="584775"/>
          </a:xfrm>
          <a:prstGeom prst="rect">
            <a:avLst/>
          </a:prstGeom>
          <a:noFill/>
        </p:spPr>
        <p:txBody>
          <a:bodyPr wrap="square" rtlCol="0">
            <a:spAutoFit/>
          </a:bodyPr>
          <a:lstStyle/>
          <a:p>
            <a:r>
              <a:rPr lang="en-IN" sz="3200" dirty="0"/>
              <a:t>Architecture </a:t>
            </a:r>
          </a:p>
        </p:txBody>
      </p:sp>
      <p:sp>
        <p:nvSpPr>
          <p:cNvPr id="30" name="TextBox 29">
            <a:extLst>
              <a:ext uri="{FF2B5EF4-FFF2-40B4-BE49-F238E27FC236}">
                <a16:creationId xmlns:a16="http://schemas.microsoft.com/office/drawing/2014/main" id="{818DD942-0EF9-FFF1-27AD-78429E610F92}"/>
              </a:ext>
            </a:extLst>
          </p:cNvPr>
          <p:cNvSpPr txBox="1"/>
          <p:nvPr/>
        </p:nvSpPr>
        <p:spPr>
          <a:xfrm>
            <a:off x="1248156" y="3727180"/>
            <a:ext cx="9226296" cy="2125005"/>
          </a:xfrm>
          <a:prstGeom prst="rect">
            <a:avLst/>
          </a:prstGeom>
          <a:noFill/>
        </p:spPr>
        <p:txBody>
          <a:bodyPr wrap="square" rtlCol="0">
            <a:spAutoFit/>
          </a:bodyPr>
          <a:lstStyle/>
          <a:p>
            <a:pPr algn="just">
              <a:lnSpc>
                <a:spcPct val="150000"/>
              </a:lnSpc>
            </a:pPr>
            <a:r>
              <a:rPr lang="en-IN" dirty="0"/>
              <a:t>The project follows a layered architecture. The presentation layer is implemented using </a:t>
            </a:r>
            <a:r>
              <a:rPr lang="en-IN" dirty="0" err="1"/>
              <a:t>Streamlit</a:t>
            </a:r>
            <a:r>
              <a:rPr lang="en-IN" dirty="0"/>
              <a:t> and provides the user interface. The application layer uses Python and handles user interactions, validation, authentication and application logic. The data access layer is implemented in database.py, which communicates with the SQLite database to store and retrieve users and confessions</a:t>
            </a:r>
          </a:p>
        </p:txBody>
      </p:sp>
    </p:spTree>
    <p:extLst>
      <p:ext uri="{BB962C8B-B14F-4D97-AF65-F5344CB8AC3E}">
        <p14:creationId xmlns:p14="http://schemas.microsoft.com/office/powerpoint/2010/main" val="1807110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AB159-A3CA-1762-FC17-CBFE2EEC32D6}"/>
              </a:ext>
            </a:extLst>
          </p:cNvPr>
          <p:cNvSpPr>
            <a:spLocks noGrp="1"/>
          </p:cNvSpPr>
          <p:nvPr>
            <p:ph type="title"/>
          </p:nvPr>
        </p:nvSpPr>
        <p:spPr>
          <a:xfrm>
            <a:off x="609600" y="392966"/>
            <a:ext cx="10515600" cy="1116811"/>
          </a:xfrm>
        </p:spPr>
        <p:txBody>
          <a:bodyPr>
            <a:normAutofit/>
          </a:bodyPr>
          <a:lstStyle/>
          <a:p>
            <a:r>
              <a:rPr lang="en-IN" sz="2800" dirty="0"/>
              <a:t>WORKING</a:t>
            </a:r>
          </a:p>
        </p:txBody>
      </p:sp>
      <p:sp>
        <p:nvSpPr>
          <p:cNvPr id="3" name="Content Placeholder 2">
            <a:extLst>
              <a:ext uri="{FF2B5EF4-FFF2-40B4-BE49-F238E27FC236}">
                <a16:creationId xmlns:a16="http://schemas.microsoft.com/office/drawing/2014/main" id="{F0B74535-2671-5062-F747-EAB8B4787A84}"/>
              </a:ext>
            </a:extLst>
          </p:cNvPr>
          <p:cNvSpPr>
            <a:spLocks noGrp="1"/>
          </p:cNvSpPr>
          <p:nvPr>
            <p:ph idx="1"/>
          </p:nvPr>
        </p:nvSpPr>
        <p:spPr/>
        <p:txBody>
          <a:bodyPr/>
          <a:lstStyle/>
          <a:p>
            <a:pPr algn="just">
              <a:lnSpc>
                <a:spcPct val="150000"/>
              </a:lnSpc>
            </a:pPr>
            <a:r>
              <a:rPr lang="en-IN" dirty="0"/>
              <a:t>The working of Whispers begins when the user interacts with the </a:t>
            </a:r>
            <a:r>
              <a:rPr lang="en-IN" dirty="0" err="1"/>
              <a:t>Streamlit</a:t>
            </a:r>
            <a:r>
              <a:rPr lang="en-IN" dirty="0"/>
              <a:t> interface. The user's input is passed to the application logic, where it is processed and validated. The database layer then performs the required operation on the SQLite database. The result is returned to the application and displayed to the user</a:t>
            </a:r>
          </a:p>
        </p:txBody>
      </p:sp>
    </p:spTree>
    <p:extLst>
      <p:ext uri="{BB962C8B-B14F-4D97-AF65-F5344CB8AC3E}">
        <p14:creationId xmlns:p14="http://schemas.microsoft.com/office/powerpoint/2010/main" val="2577967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506E5-8EA4-0D99-112C-A79FF387E3D9}"/>
              </a:ext>
            </a:extLst>
          </p:cNvPr>
          <p:cNvSpPr>
            <a:spLocks noGrp="1"/>
          </p:cNvSpPr>
          <p:nvPr>
            <p:ph type="title"/>
          </p:nvPr>
        </p:nvSpPr>
        <p:spPr>
          <a:xfrm>
            <a:off x="673608" y="-82522"/>
            <a:ext cx="10515600" cy="1116811"/>
          </a:xfrm>
        </p:spPr>
        <p:txBody>
          <a:bodyPr>
            <a:normAutofit/>
          </a:bodyPr>
          <a:lstStyle/>
          <a:p>
            <a:r>
              <a:rPr lang="en-IN" sz="3200" dirty="0"/>
              <a:t>Database Design</a:t>
            </a:r>
          </a:p>
        </p:txBody>
      </p:sp>
      <p:sp>
        <p:nvSpPr>
          <p:cNvPr id="3" name="Content Placeholder 2">
            <a:extLst>
              <a:ext uri="{FF2B5EF4-FFF2-40B4-BE49-F238E27FC236}">
                <a16:creationId xmlns:a16="http://schemas.microsoft.com/office/drawing/2014/main" id="{89C3FF95-638D-0008-5016-65EC6211E35F}"/>
              </a:ext>
            </a:extLst>
          </p:cNvPr>
          <p:cNvSpPr>
            <a:spLocks noGrp="1"/>
          </p:cNvSpPr>
          <p:nvPr>
            <p:ph idx="1"/>
          </p:nvPr>
        </p:nvSpPr>
        <p:spPr>
          <a:xfrm>
            <a:off x="838200" y="1289305"/>
            <a:ext cx="10515600" cy="4886966"/>
          </a:xfrm>
        </p:spPr>
        <p:txBody>
          <a:bodyPr/>
          <a:lstStyle/>
          <a:p>
            <a:r>
              <a:rPr lang="en-IN" dirty="0"/>
              <a:t>SQLite is a lightweight, free, open source, file-based relational database management system written in c. </a:t>
            </a:r>
          </a:p>
          <a:p>
            <a:pPr lvl="0"/>
            <a:r>
              <a:rPr lang="en-IN" dirty="0"/>
              <a:t>It does not require a separate database server.</a:t>
            </a:r>
          </a:p>
          <a:p>
            <a:pPr lvl="0"/>
            <a:r>
              <a:rPr lang="en-IN" dirty="0"/>
              <a:t>Table: Collection of related data. </a:t>
            </a:r>
          </a:p>
          <a:p>
            <a:pPr lvl="0"/>
            <a:r>
              <a:rPr lang="en-IN" dirty="0"/>
              <a:t>Attribute: A column describing a property of the data. </a:t>
            </a:r>
          </a:p>
          <a:p>
            <a:pPr lvl="0"/>
            <a:r>
              <a:rPr lang="en-IN" dirty="0"/>
              <a:t>Tuple/Record: A single row in a table. </a:t>
            </a:r>
          </a:p>
          <a:p>
            <a:pPr lvl="0"/>
            <a:r>
              <a:rPr lang="en-IN" dirty="0"/>
              <a:t>Primary Key: Uniquely identifies each record. </a:t>
            </a:r>
          </a:p>
          <a:p>
            <a:pPr lvl="0"/>
            <a:r>
              <a:rPr lang="en-IN" dirty="0"/>
              <a:t>SQL: Used to create, store, retrieve and manipulate data. </a:t>
            </a:r>
          </a:p>
          <a:p>
            <a:pPr lvl="0"/>
            <a:r>
              <a:rPr lang="en-IN" dirty="0"/>
              <a:t>CRUD operations: Create, Read, Update and Delete.</a:t>
            </a:r>
          </a:p>
          <a:p>
            <a:endParaRPr lang="en-IN" dirty="0"/>
          </a:p>
        </p:txBody>
      </p:sp>
    </p:spTree>
    <p:extLst>
      <p:ext uri="{BB962C8B-B14F-4D97-AF65-F5344CB8AC3E}">
        <p14:creationId xmlns:p14="http://schemas.microsoft.com/office/powerpoint/2010/main" val="349456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AE460-28C3-A537-34F3-9C685FA27C41}"/>
              </a:ext>
            </a:extLst>
          </p:cNvPr>
          <p:cNvSpPr>
            <a:spLocks noGrp="1"/>
          </p:cNvSpPr>
          <p:nvPr>
            <p:ph type="title"/>
          </p:nvPr>
        </p:nvSpPr>
        <p:spPr>
          <a:xfrm>
            <a:off x="838200" y="584991"/>
            <a:ext cx="10646664" cy="722602"/>
          </a:xfrm>
        </p:spPr>
        <p:txBody>
          <a:bodyPr>
            <a:normAutofit/>
          </a:bodyPr>
          <a:lstStyle/>
          <a:p>
            <a:r>
              <a:rPr lang="en-IN" sz="2800" dirty="0"/>
              <a:t>Authentication &amp; User Management</a:t>
            </a:r>
          </a:p>
        </p:txBody>
      </p:sp>
      <p:sp>
        <p:nvSpPr>
          <p:cNvPr id="3" name="Content Placeholder 2">
            <a:extLst>
              <a:ext uri="{FF2B5EF4-FFF2-40B4-BE49-F238E27FC236}">
                <a16:creationId xmlns:a16="http://schemas.microsoft.com/office/drawing/2014/main" id="{9B0D3AC8-125B-B1A0-5140-F78F60F91B2D}"/>
              </a:ext>
            </a:extLst>
          </p:cNvPr>
          <p:cNvSpPr>
            <a:spLocks noGrp="1"/>
          </p:cNvSpPr>
          <p:nvPr>
            <p:ph idx="1"/>
          </p:nvPr>
        </p:nvSpPr>
        <p:spPr>
          <a:xfrm>
            <a:off x="838200" y="1741429"/>
            <a:ext cx="10515600" cy="4114801"/>
          </a:xfrm>
        </p:spPr>
        <p:txBody>
          <a:bodyPr/>
          <a:lstStyle/>
          <a:p>
            <a:pPr lvl="0"/>
            <a:r>
              <a:rPr lang="en-IN" b="1" dirty="0"/>
              <a:t>Authentication</a:t>
            </a:r>
            <a:r>
              <a:rPr lang="en-IN" dirty="0"/>
              <a:t> verifies the identity of a user, involving a </a:t>
            </a:r>
            <a:r>
              <a:rPr lang="en-IN" b="1" dirty="0"/>
              <a:t>username and password</a:t>
            </a:r>
            <a:r>
              <a:rPr lang="en-IN" dirty="0"/>
              <a:t>. </a:t>
            </a:r>
          </a:p>
          <a:p>
            <a:pPr lvl="0"/>
            <a:r>
              <a:rPr lang="en-IN" b="1" dirty="0"/>
              <a:t>Registration</a:t>
            </a:r>
            <a:r>
              <a:rPr lang="en-IN" dirty="0"/>
              <a:t> creates a new user account, </a:t>
            </a:r>
            <a:r>
              <a:rPr lang="en-IN" b="1" dirty="0"/>
              <a:t>Login</a:t>
            </a:r>
            <a:r>
              <a:rPr lang="en-IN" dirty="0"/>
              <a:t> verifies the user's credentials. </a:t>
            </a:r>
          </a:p>
          <a:p>
            <a:pPr lvl="0"/>
            <a:r>
              <a:rPr lang="en-IN" b="1" dirty="0"/>
              <a:t>Logout</a:t>
            </a:r>
            <a:r>
              <a:rPr lang="en-IN" dirty="0"/>
              <a:t> terminates the current authenticated session. </a:t>
            </a:r>
          </a:p>
          <a:p>
            <a:pPr lvl="0"/>
            <a:r>
              <a:rPr lang="en-IN" b="1" dirty="0"/>
              <a:t>Session management</a:t>
            </a:r>
            <a:r>
              <a:rPr lang="en-IN" dirty="0"/>
              <a:t> maintains the user's login state while using the application.</a:t>
            </a:r>
          </a:p>
          <a:p>
            <a:pPr lvl="0"/>
            <a:r>
              <a:rPr lang="en-IN" dirty="0"/>
              <a:t>Passwords should </a:t>
            </a:r>
            <a:r>
              <a:rPr lang="en-IN" b="1" dirty="0"/>
              <a:t>not be stored as plain text</a:t>
            </a:r>
            <a:r>
              <a:rPr lang="en-IN" dirty="0"/>
              <a:t>. </a:t>
            </a:r>
          </a:p>
          <a:p>
            <a:pPr lvl="0"/>
            <a:r>
              <a:rPr lang="en-IN" dirty="0"/>
              <a:t>The project stores a </a:t>
            </a:r>
            <a:r>
              <a:rPr lang="en-IN" b="1" dirty="0"/>
              <a:t>password hash</a:t>
            </a:r>
            <a:r>
              <a:rPr lang="en-IN" dirty="0"/>
              <a:t> instead. </a:t>
            </a:r>
          </a:p>
          <a:p>
            <a:pPr lvl="0"/>
            <a:r>
              <a:rPr lang="en-IN" dirty="0"/>
              <a:t>Hashing converts the password into a fixed-length value. </a:t>
            </a:r>
          </a:p>
          <a:p>
            <a:pPr lvl="0"/>
            <a:r>
              <a:rPr lang="en-IN" dirty="0"/>
              <a:t>The original password cannot be directly obtained from the stored hash.</a:t>
            </a:r>
          </a:p>
          <a:p>
            <a:endParaRPr lang="en-IN" dirty="0"/>
          </a:p>
        </p:txBody>
      </p:sp>
    </p:spTree>
    <p:extLst>
      <p:ext uri="{BB962C8B-B14F-4D97-AF65-F5344CB8AC3E}">
        <p14:creationId xmlns:p14="http://schemas.microsoft.com/office/powerpoint/2010/main" val="2742440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5BB5-E101-BEAE-180A-45A8BF8FCFEF}"/>
              </a:ext>
            </a:extLst>
          </p:cNvPr>
          <p:cNvSpPr>
            <a:spLocks noGrp="1"/>
          </p:cNvSpPr>
          <p:nvPr>
            <p:ph type="title"/>
          </p:nvPr>
        </p:nvSpPr>
        <p:spPr/>
        <p:txBody>
          <a:bodyPr>
            <a:normAutofit/>
          </a:bodyPr>
          <a:lstStyle/>
          <a:p>
            <a:r>
              <a:rPr lang="en-IN" sz="2800" dirty="0"/>
              <a:t>DYNAMIC WEBPAGE</a:t>
            </a:r>
          </a:p>
        </p:txBody>
      </p:sp>
      <p:sp>
        <p:nvSpPr>
          <p:cNvPr id="3" name="Content Placeholder 2">
            <a:extLst>
              <a:ext uri="{FF2B5EF4-FFF2-40B4-BE49-F238E27FC236}">
                <a16:creationId xmlns:a16="http://schemas.microsoft.com/office/drawing/2014/main" id="{50C596BF-1898-1325-68F8-B2B642592C6C}"/>
              </a:ext>
            </a:extLst>
          </p:cNvPr>
          <p:cNvSpPr>
            <a:spLocks noGrp="1"/>
          </p:cNvSpPr>
          <p:nvPr>
            <p:ph idx="1"/>
          </p:nvPr>
        </p:nvSpPr>
        <p:spPr/>
        <p:txBody>
          <a:bodyPr/>
          <a:lstStyle/>
          <a:p>
            <a:r>
              <a:rPr lang="en-IN" dirty="0"/>
              <a:t>A </a:t>
            </a:r>
            <a:r>
              <a:rPr lang="en-IN" b="1" dirty="0"/>
              <a:t>dynamic web page</a:t>
            </a:r>
            <a:r>
              <a:rPr lang="en-IN" dirty="0"/>
              <a:t> generates or changes its content based on user interaction or data.</a:t>
            </a:r>
          </a:p>
          <a:p>
            <a:r>
              <a:rPr lang="en-IN" dirty="0"/>
              <a:t>When users submit new confessions, the database is updated, and the application can retrieve and display those confessions. Therefore, the content presented to the user can change dynamically.</a:t>
            </a:r>
          </a:p>
        </p:txBody>
      </p:sp>
    </p:spTree>
    <p:extLst>
      <p:ext uri="{BB962C8B-B14F-4D97-AF65-F5344CB8AC3E}">
        <p14:creationId xmlns:p14="http://schemas.microsoft.com/office/powerpoint/2010/main" val="705105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B5669-E668-3238-C1D2-D8F087323844}"/>
              </a:ext>
            </a:extLst>
          </p:cNvPr>
          <p:cNvSpPr>
            <a:spLocks noGrp="1"/>
          </p:cNvSpPr>
          <p:nvPr>
            <p:ph type="title"/>
          </p:nvPr>
        </p:nvSpPr>
        <p:spPr>
          <a:xfrm>
            <a:off x="499872" y="90594"/>
            <a:ext cx="10515600" cy="1116811"/>
          </a:xfrm>
        </p:spPr>
        <p:txBody>
          <a:bodyPr>
            <a:normAutofit/>
          </a:bodyPr>
          <a:lstStyle/>
          <a:p>
            <a:r>
              <a:rPr lang="en-IN" sz="2800" dirty="0"/>
              <a:t>TECHNOLOGY STACK</a:t>
            </a:r>
          </a:p>
        </p:txBody>
      </p:sp>
      <p:graphicFrame>
        <p:nvGraphicFramePr>
          <p:cNvPr id="11" name="Content Placeholder 10">
            <a:extLst>
              <a:ext uri="{FF2B5EF4-FFF2-40B4-BE49-F238E27FC236}">
                <a16:creationId xmlns:a16="http://schemas.microsoft.com/office/drawing/2014/main" id="{B83A2361-31B8-1303-AAB3-1B3C75768139}"/>
              </a:ext>
            </a:extLst>
          </p:cNvPr>
          <p:cNvGraphicFramePr>
            <a:graphicFrameLocks noGrp="1"/>
          </p:cNvGraphicFramePr>
          <p:nvPr>
            <p:ph idx="1"/>
            <p:extLst>
              <p:ext uri="{D42A27DB-BD31-4B8C-83A1-F6EECF244321}">
                <p14:modId xmlns:p14="http://schemas.microsoft.com/office/powerpoint/2010/main" val="3249513047"/>
              </p:ext>
            </p:extLst>
          </p:nvPr>
        </p:nvGraphicFramePr>
        <p:xfrm>
          <a:off x="2532888" y="1920240"/>
          <a:ext cx="6739128" cy="4288760"/>
        </p:xfrm>
        <a:graphic>
          <a:graphicData uri="http://schemas.openxmlformats.org/drawingml/2006/table">
            <a:tbl>
              <a:tblPr>
                <a:tableStyleId>{5C22544A-7EE6-4342-B048-85BDC9FD1C3A}</a:tableStyleId>
              </a:tblPr>
              <a:tblGrid>
                <a:gridCol w="3369564">
                  <a:extLst>
                    <a:ext uri="{9D8B030D-6E8A-4147-A177-3AD203B41FA5}">
                      <a16:colId xmlns:a16="http://schemas.microsoft.com/office/drawing/2014/main" val="3361064483"/>
                    </a:ext>
                  </a:extLst>
                </a:gridCol>
                <a:gridCol w="3369564">
                  <a:extLst>
                    <a:ext uri="{9D8B030D-6E8A-4147-A177-3AD203B41FA5}">
                      <a16:colId xmlns:a16="http://schemas.microsoft.com/office/drawing/2014/main" val="4097345774"/>
                    </a:ext>
                  </a:extLst>
                </a:gridCol>
              </a:tblGrid>
              <a:tr h="536095">
                <a:tc>
                  <a:txBody>
                    <a:bodyPr/>
                    <a:lstStyle/>
                    <a:p>
                      <a:pPr>
                        <a:buNone/>
                      </a:pPr>
                      <a:r>
                        <a:rPr lang="en-IN" b="1" dirty="0"/>
                        <a:t>Component</a:t>
                      </a:r>
                    </a:p>
                  </a:txBody>
                  <a:tcPr anchor="ctr">
                    <a:solidFill>
                      <a:schemeClr val="bg2">
                        <a:lumMod val="75000"/>
                      </a:schemeClr>
                    </a:solidFill>
                  </a:tcPr>
                </a:tc>
                <a:tc>
                  <a:txBody>
                    <a:bodyPr/>
                    <a:lstStyle/>
                    <a:p>
                      <a:pPr>
                        <a:buNone/>
                      </a:pPr>
                      <a:r>
                        <a:rPr lang="en-IN" b="1" dirty="0"/>
                        <a:t>Technology</a:t>
                      </a:r>
                    </a:p>
                  </a:txBody>
                  <a:tcPr anchor="ctr">
                    <a:solidFill>
                      <a:schemeClr val="bg2">
                        <a:lumMod val="75000"/>
                      </a:schemeClr>
                    </a:solidFill>
                  </a:tcPr>
                </a:tc>
                <a:extLst>
                  <a:ext uri="{0D108BD9-81ED-4DB2-BD59-A6C34878D82A}">
                    <a16:rowId xmlns:a16="http://schemas.microsoft.com/office/drawing/2014/main" val="2583365800"/>
                  </a:ext>
                </a:extLst>
              </a:tr>
              <a:tr h="536095">
                <a:tc>
                  <a:txBody>
                    <a:bodyPr/>
                    <a:lstStyle/>
                    <a:p>
                      <a:pPr>
                        <a:buNone/>
                      </a:pPr>
                      <a:r>
                        <a:rPr lang="en-IN"/>
                        <a:t>User Interface</a:t>
                      </a:r>
                    </a:p>
                  </a:txBody>
                  <a:tcPr anchor="ctr"/>
                </a:tc>
                <a:tc>
                  <a:txBody>
                    <a:bodyPr/>
                    <a:lstStyle/>
                    <a:p>
                      <a:pPr>
                        <a:buNone/>
                      </a:pPr>
                      <a:r>
                        <a:rPr lang="en-IN"/>
                        <a:t>Streamlit</a:t>
                      </a:r>
                    </a:p>
                  </a:txBody>
                  <a:tcPr anchor="ctr"/>
                </a:tc>
                <a:extLst>
                  <a:ext uri="{0D108BD9-81ED-4DB2-BD59-A6C34878D82A}">
                    <a16:rowId xmlns:a16="http://schemas.microsoft.com/office/drawing/2014/main" val="534795004"/>
                  </a:ext>
                </a:extLst>
              </a:tr>
              <a:tr h="536095">
                <a:tc>
                  <a:txBody>
                    <a:bodyPr/>
                    <a:lstStyle/>
                    <a:p>
                      <a:pPr>
                        <a:buNone/>
                      </a:pPr>
                      <a:r>
                        <a:rPr lang="en-IN"/>
                        <a:t>Programming Language</a:t>
                      </a:r>
                    </a:p>
                  </a:txBody>
                  <a:tcPr anchor="ctr"/>
                </a:tc>
                <a:tc>
                  <a:txBody>
                    <a:bodyPr/>
                    <a:lstStyle/>
                    <a:p>
                      <a:pPr>
                        <a:buNone/>
                      </a:pPr>
                      <a:r>
                        <a:rPr lang="en-IN"/>
                        <a:t>Python</a:t>
                      </a:r>
                    </a:p>
                  </a:txBody>
                  <a:tcPr anchor="ctr"/>
                </a:tc>
                <a:extLst>
                  <a:ext uri="{0D108BD9-81ED-4DB2-BD59-A6C34878D82A}">
                    <a16:rowId xmlns:a16="http://schemas.microsoft.com/office/drawing/2014/main" val="3056710161"/>
                  </a:ext>
                </a:extLst>
              </a:tr>
              <a:tr h="536095">
                <a:tc>
                  <a:txBody>
                    <a:bodyPr/>
                    <a:lstStyle/>
                    <a:p>
                      <a:pPr>
                        <a:buNone/>
                      </a:pPr>
                      <a:r>
                        <a:rPr lang="en-IN"/>
                        <a:t>Database</a:t>
                      </a:r>
                    </a:p>
                  </a:txBody>
                  <a:tcPr anchor="ctr"/>
                </a:tc>
                <a:tc>
                  <a:txBody>
                    <a:bodyPr/>
                    <a:lstStyle/>
                    <a:p>
                      <a:pPr>
                        <a:buNone/>
                      </a:pPr>
                      <a:r>
                        <a:rPr lang="en-IN"/>
                        <a:t>SQLite</a:t>
                      </a:r>
                    </a:p>
                  </a:txBody>
                  <a:tcPr anchor="ctr"/>
                </a:tc>
                <a:extLst>
                  <a:ext uri="{0D108BD9-81ED-4DB2-BD59-A6C34878D82A}">
                    <a16:rowId xmlns:a16="http://schemas.microsoft.com/office/drawing/2014/main" val="179170141"/>
                  </a:ext>
                </a:extLst>
              </a:tr>
              <a:tr h="536095">
                <a:tc>
                  <a:txBody>
                    <a:bodyPr/>
                    <a:lstStyle/>
                    <a:p>
                      <a:pPr>
                        <a:buNone/>
                      </a:pPr>
                      <a:r>
                        <a:rPr lang="en-IN"/>
                        <a:t>Database Connectivity</a:t>
                      </a:r>
                    </a:p>
                  </a:txBody>
                  <a:tcPr anchor="ctr"/>
                </a:tc>
                <a:tc>
                  <a:txBody>
                    <a:bodyPr/>
                    <a:lstStyle/>
                    <a:p>
                      <a:pPr>
                        <a:buNone/>
                      </a:pPr>
                      <a:r>
                        <a:rPr lang="en-IN"/>
                        <a:t>Python sqlite3</a:t>
                      </a:r>
                    </a:p>
                  </a:txBody>
                  <a:tcPr anchor="ctr"/>
                </a:tc>
                <a:extLst>
                  <a:ext uri="{0D108BD9-81ED-4DB2-BD59-A6C34878D82A}">
                    <a16:rowId xmlns:a16="http://schemas.microsoft.com/office/drawing/2014/main" val="1643535388"/>
                  </a:ext>
                </a:extLst>
              </a:tr>
              <a:tr h="536095">
                <a:tc>
                  <a:txBody>
                    <a:bodyPr/>
                    <a:lstStyle/>
                    <a:p>
                      <a:pPr>
                        <a:buNone/>
                      </a:pPr>
                      <a:r>
                        <a:rPr lang="en-IN"/>
                        <a:t>Authentication</a:t>
                      </a:r>
                    </a:p>
                  </a:txBody>
                  <a:tcPr anchor="ctr"/>
                </a:tc>
                <a:tc>
                  <a:txBody>
                    <a:bodyPr/>
                    <a:lstStyle/>
                    <a:p>
                      <a:pPr>
                        <a:buNone/>
                      </a:pPr>
                      <a:r>
                        <a:rPr lang="en-IN"/>
                        <a:t>Python + Session State</a:t>
                      </a:r>
                    </a:p>
                  </a:txBody>
                  <a:tcPr anchor="ctr"/>
                </a:tc>
                <a:extLst>
                  <a:ext uri="{0D108BD9-81ED-4DB2-BD59-A6C34878D82A}">
                    <a16:rowId xmlns:a16="http://schemas.microsoft.com/office/drawing/2014/main" val="4247691394"/>
                  </a:ext>
                </a:extLst>
              </a:tr>
              <a:tr h="536095">
                <a:tc>
                  <a:txBody>
                    <a:bodyPr/>
                    <a:lstStyle/>
                    <a:p>
                      <a:pPr>
                        <a:buNone/>
                      </a:pPr>
                      <a:r>
                        <a:rPr lang="en-IN"/>
                        <a:t>Version Control</a:t>
                      </a:r>
                    </a:p>
                  </a:txBody>
                  <a:tcPr anchor="ctr"/>
                </a:tc>
                <a:tc>
                  <a:txBody>
                    <a:bodyPr/>
                    <a:lstStyle/>
                    <a:p>
                      <a:pPr>
                        <a:buNone/>
                      </a:pPr>
                      <a:r>
                        <a:rPr lang="en-IN"/>
                        <a:t>Git &amp; GitHub</a:t>
                      </a:r>
                    </a:p>
                  </a:txBody>
                  <a:tcPr anchor="ctr"/>
                </a:tc>
                <a:extLst>
                  <a:ext uri="{0D108BD9-81ED-4DB2-BD59-A6C34878D82A}">
                    <a16:rowId xmlns:a16="http://schemas.microsoft.com/office/drawing/2014/main" val="536632211"/>
                  </a:ext>
                </a:extLst>
              </a:tr>
              <a:tr h="536095">
                <a:tc>
                  <a:txBody>
                    <a:bodyPr/>
                    <a:lstStyle/>
                    <a:p>
                      <a:pPr>
                        <a:buNone/>
                      </a:pPr>
                      <a:r>
                        <a:rPr lang="en-IN"/>
                        <a:t>Deployment</a:t>
                      </a:r>
                    </a:p>
                  </a:txBody>
                  <a:tcPr anchor="ctr"/>
                </a:tc>
                <a:tc>
                  <a:txBody>
                    <a:bodyPr/>
                    <a:lstStyle/>
                    <a:p>
                      <a:pPr>
                        <a:buNone/>
                      </a:pPr>
                      <a:r>
                        <a:rPr lang="en-IN" dirty="0" err="1"/>
                        <a:t>Streamlit</a:t>
                      </a:r>
                      <a:r>
                        <a:rPr lang="en-IN" dirty="0"/>
                        <a:t> Community Cloud</a:t>
                      </a:r>
                    </a:p>
                  </a:txBody>
                  <a:tcPr anchor="ctr"/>
                </a:tc>
                <a:extLst>
                  <a:ext uri="{0D108BD9-81ED-4DB2-BD59-A6C34878D82A}">
                    <a16:rowId xmlns:a16="http://schemas.microsoft.com/office/drawing/2014/main" val="2027563092"/>
                  </a:ext>
                </a:extLst>
              </a:tr>
            </a:tbl>
          </a:graphicData>
        </a:graphic>
      </p:graphicFrame>
    </p:spTree>
    <p:extLst>
      <p:ext uri="{BB962C8B-B14F-4D97-AF65-F5344CB8AC3E}">
        <p14:creationId xmlns:p14="http://schemas.microsoft.com/office/powerpoint/2010/main" val="109422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0EE2-47F6-F957-4715-57E533905802}"/>
              </a:ext>
            </a:extLst>
          </p:cNvPr>
          <p:cNvSpPr>
            <a:spLocks noGrp="1"/>
          </p:cNvSpPr>
          <p:nvPr>
            <p:ph type="title"/>
          </p:nvPr>
        </p:nvSpPr>
        <p:spPr>
          <a:xfrm>
            <a:off x="3517392" y="2312189"/>
            <a:ext cx="10515600" cy="1116811"/>
          </a:xfrm>
        </p:spPr>
        <p:txBody>
          <a:bodyPr/>
          <a:lstStyle/>
          <a:p>
            <a:r>
              <a:rPr lang="en-IN" dirty="0"/>
              <a:t>THANKYOU</a:t>
            </a:r>
          </a:p>
        </p:txBody>
      </p:sp>
    </p:spTree>
    <p:extLst>
      <p:ext uri="{BB962C8B-B14F-4D97-AF65-F5344CB8AC3E}">
        <p14:creationId xmlns:p14="http://schemas.microsoft.com/office/powerpoint/2010/main" val="2150999538"/>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School Days</Template>
  <TotalTime>79</TotalTime>
  <Words>403</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Felix Titling</vt:lpstr>
      <vt:lpstr>Goudy Old Style</vt:lpstr>
      <vt:lpstr>Archway</vt:lpstr>
      <vt:lpstr>CONFESSIONS PAGE </vt:lpstr>
      <vt:lpstr>PowerPoint Presentation</vt:lpstr>
      <vt:lpstr>WORKING</vt:lpstr>
      <vt:lpstr>Database Design</vt:lpstr>
      <vt:lpstr>Authentication &amp; User Management</vt:lpstr>
      <vt:lpstr>DYNAMIC WEBPAGE</vt:lpstr>
      <vt:lpstr>TECHNOLOGY STACK</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Bhaminy Krishna</dc:creator>
  <cp:lastModifiedBy>Bhaminy Krishna</cp:lastModifiedBy>
  <cp:revision>3</cp:revision>
  <dcterms:created xsi:type="dcterms:W3CDTF">2026-09-12T06:49:12Z</dcterms:created>
  <dcterms:modified xsi:type="dcterms:W3CDTF">2026-09-12T17:00:56Z</dcterms:modified>
</cp:coreProperties>
</file>